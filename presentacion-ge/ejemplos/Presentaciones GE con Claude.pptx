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7" r:id="rId4"/>
  </p:sldMasterIdLst>
  <p:notesMasterIdLst>
    <p:notesMasterId r:id="rId15"/>
  </p:notesMasterIdLst>
  <p:handoutMasterIdLst>
    <p:handoutMasterId r:id="rId16"/>
  </p:handoutMasterIdLst>
  <p:sldIdLst>
    <p:sldId id="256" r:id="rId14"/>
    <p:sldId id="257" r:id="rId13"/>
    <p:sldId id="258" r:id="rId12"/>
    <p:sldId id="259" r:id="rId11"/>
    <p:sldId id="260" r:id="rId10"/>
    <p:sldId id="261" r:id="rId9"/>
    <p:sldId id="262" r:id="rId8"/>
    <p:sldId id="263" r:id="rId7"/>
    <p:sldId id="264" r:id="rId6"/>
    <p:sldId id="265" r:id="rId5"/>
    <p:sldId id="266" r:id="rId25"/>
    <p:sldId id="267" r:id="rId26"/>
    <p:sldId id="268" r:id="rId27"/>
    <p:sldId id="269" r:id="rId28"/>
  </p:sldIdLst>
  <p:sldSz cx="12192000" cy="6858000"/>
  <p:notesSz cx="6858000" cy="9144000"/>
  <p:embeddedFontLst>
    <p:embeddedFont>
      <p:font typeface="Red Hat Display" panose="02010303040201060303" pitchFamily="2" charset="0"/>
      <p:regular r:id="rId17"/>
      <p:bold r:id="rId18"/>
      <p:italic r:id="rId19"/>
      <p:boldItalic r:id="rId20"/>
    </p:embeddedFont>
  </p:embeddedFontLst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2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2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2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2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8599"/>
    <a:srgbClr val="86A83E"/>
    <a:srgbClr val="F6F8F9"/>
    <a:srgbClr val="AD2D75"/>
    <a:srgbClr val="535B5E"/>
    <a:srgbClr val="FFFFFF"/>
    <a:srgbClr val="F8F8F8"/>
    <a:srgbClr val="739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lt2"/>
              </a:solidFill>
            </a:ln>
          </a:left>
          <a:right>
            <a:ln w="12700" cmpd="sng">
              <a:solidFill>
                <a:schemeClr val="lt2"/>
              </a:solidFill>
            </a:ln>
          </a:right>
          <a:top>
            <a:ln w="12700" cmpd="sng">
              <a:solidFill>
                <a:schemeClr val="lt2"/>
              </a:solidFill>
            </a:ln>
          </a:top>
          <a:bottom>
            <a:ln w="12700" cmpd="sng">
              <a:solidFill>
                <a:schemeClr val="lt2"/>
              </a:solidFill>
            </a:ln>
          </a:bottom>
          <a:insideH>
            <a:ln w="12700" cmpd="sng">
              <a:solidFill>
                <a:schemeClr val="lt2"/>
              </a:solidFill>
            </a:ln>
          </a:insideH>
          <a:insideV>
            <a:ln w="12700" cmpd="sng">
              <a:solidFill>
                <a:schemeClr val="lt2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2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2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2"/>
      </a:tcTxStyle>
      <a:tcStyle>
        <a:tcBdr>
          <a:top>
            <a:ln w="38100" cmpd="sng">
              <a:solidFill>
                <a:schemeClr val="lt2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2"/>
      </a:tcTxStyle>
      <a:tcStyle>
        <a:tcBdr>
          <a:bottom>
            <a:ln w="38100" cmpd="sng">
              <a:solidFill>
                <a:schemeClr val="lt2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lt2"/>
              </a:solidFill>
            </a:ln>
          </a:left>
          <a:right>
            <a:ln w="12700" cmpd="sng">
              <a:solidFill>
                <a:schemeClr val="lt2"/>
              </a:solidFill>
            </a:ln>
          </a:right>
          <a:top>
            <a:ln w="12700" cmpd="sng">
              <a:solidFill>
                <a:schemeClr val="lt2"/>
              </a:solidFill>
            </a:ln>
          </a:top>
          <a:bottom>
            <a:ln w="12700" cmpd="sng">
              <a:solidFill>
                <a:schemeClr val="lt2"/>
              </a:solidFill>
            </a:ln>
          </a:bottom>
          <a:insideH>
            <a:ln w="12700" cmpd="sng">
              <a:solidFill>
                <a:schemeClr val="lt2"/>
              </a:solidFill>
            </a:ln>
          </a:insideH>
          <a:insideV>
            <a:ln w="12700" cmpd="sng">
              <a:solidFill>
                <a:schemeClr val="l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2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2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2"/>
      </a:tcTxStyle>
      <a:tcStyle>
        <a:tcBdr>
          <a:top>
            <a:ln w="38100" cmpd="sng">
              <a:solidFill>
                <a:schemeClr val="lt2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2"/>
      </a:tcTxStyle>
      <a:tcStyle>
        <a:tcBdr>
          <a:bottom>
            <a:ln w="38100" cmpd="sng">
              <a:solidFill>
                <a:schemeClr val="lt2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lt2"/>
              </a:solidFill>
            </a:ln>
          </a:left>
          <a:right>
            <a:ln w="12700" cmpd="sng">
              <a:solidFill>
                <a:schemeClr val="lt2"/>
              </a:solidFill>
            </a:ln>
          </a:right>
          <a:top>
            <a:ln w="12700" cmpd="sng">
              <a:solidFill>
                <a:schemeClr val="lt2"/>
              </a:solidFill>
            </a:ln>
          </a:top>
          <a:bottom>
            <a:ln w="12700" cmpd="sng">
              <a:solidFill>
                <a:schemeClr val="lt2"/>
              </a:solidFill>
            </a:ln>
          </a:bottom>
          <a:insideH>
            <a:ln w="12700" cmpd="sng">
              <a:solidFill>
                <a:schemeClr val="lt2"/>
              </a:solidFill>
            </a:ln>
          </a:insideH>
          <a:insideV>
            <a:ln w="12700" cmpd="sng">
              <a:solidFill>
                <a:schemeClr val="lt2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2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2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2"/>
      </a:tcTxStyle>
      <a:tcStyle>
        <a:tcBdr>
          <a:top>
            <a:ln w="38100" cmpd="sng">
              <a:solidFill>
                <a:schemeClr val="lt2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2"/>
      </a:tcTxStyle>
      <a:tcStyle>
        <a:tcBdr>
          <a:bottom>
            <a:ln w="38100" cmpd="sng">
              <a:solidFill>
                <a:schemeClr val="lt2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2"/>
      </a:tcTxStyle>
      <a:tcStyle>
        <a:tcBdr>
          <a:left>
            <a:ln w="12700" cmpd="sng">
              <a:solidFill>
                <a:schemeClr val="lt2"/>
              </a:solidFill>
            </a:ln>
          </a:left>
          <a:right>
            <a:ln w="12700" cmpd="sng">
              <a:solidFill>
                <a:schemeClr val="lt2"/>
              </a:solidFill>
            </a:ln>
          </a:right>
          <a:top>
            <a:ln w="12700" cmpd="sng">
              <a:solidFill>
                <a:schemeClr val="lt2"/>
              </a:solidFill>
            </a:ln>
          </a:top>
          <a:bottom>
            <a:ln w="12700" cmpd="sng">
              <a:solidFill>
                <a:schemeClr val="lt2"/>
              </a:solidFill>
            </a:ln>
          </a:bottom>
          <a:insideH>
            <a:ln w="12700" cmpd="sng">
              <a:solidFill>
                <a:schemeClr val="lt2"/>
              </a:solidFill>
            </a:ln>
          </a:insideH>
          <a:insideV>
            <a:ln w="12700" cmpd="sng">
              <a:solidFill>
                <a:schemeClr val="lt2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2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2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2"/>
      </a:tcTxStyle>
      <a:tcStyle>
        <a:tcBdr>
          <a:top>
            <a:ln w="38100" cmpd="sng">
              <a:solidFill>
                <a:schemeClr val="lt2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2"/>
      </a:tcTxStyle>
      <a:tcStyle>
        <a:tcBdr>
          <a:bottom>
            <a:ln w="38100" cmpd="sng">
              <a:solidFill>
                <a:schemeClr val="lt2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7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1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8" d="100"/>
          <a:sy n="168" d="100"/>
        </p:scale>
        <p:origin x="6392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2.xml"/><Relationship Id="rId14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BA0B06E-D6B0-1D63-EF23-521613D402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933B58-857D-A0CF-2F92-1933BF08DB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4A754-CC07-F445-8CB4-5FA3895B98E0}" type="datetimeFigureOut">
              <a:rPr lang="es-CL" smtClean="0"/>
              <a:t>27-08-26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5909D8-BD9C-B104-82EB-2C88B61BFE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000269-F7EF-57CB-A503-E64E595FA4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2A685-C53B-5640-B40E-FEC9D15F7C4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3414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B52E1-BC06-B742-B0F5-0480EEE54F3A}" type="datetimeFigureOut">
              <a:rPr lang="es-ES_tradnl" smtClean="0"/>
              <a:t>27/8/26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938D3-ACDE-A440-AAA5-2BDB9C12FF8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830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sistema: una skill que genera PowerPoint sobre la plantilla oficial y un deck equivalente en Claude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imágenes incrustadas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s-MX"/>
              <a:t>Título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Subtítulo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1F07247-8C29-BC0D-DCE7-6B475F5C42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177" y="5865038"/>
            <a:ext cx="1443621" cy="67387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8C31A21-B957-7A49-895F-65146E675B7F}"/>
              </a:ext>
            </a:extLst>
          </p:cNvPr>
          <p:cNvSpPr/>
          <p:nvPr userDrawn="1"/>
        </p:nvSpPr>
        <p:spPr>
          <a:xfrm>
            <a:off x="3261447" y="509641"/>
            <a:ext cx="5672666" cy="312868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95300" dist="228600" dir="5400000" sx="92000" sy="92000" algn="ctr" rotWithShape="0">
              <a:schemeClr val="tx2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74E760-83BB-A3CE-7759-8AFDF0E26053}"/>
              </a:ext>
            </a:extLst>
          </p:cNvPr>
          <p:cNvSpPr/>
          <p:nvPr userDrawn="1"/>
        </p:nvSpPr>
        <p:spPr>
          <a:xfrm>
            <a:off x="21234" y="509641"/>
            <a:ext cx="2988733" cy="312868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95300" dist="228600" dir="5400000" sx="92000" sy="92000" algn="ctr" rotWithShape="0">
              <a:schemeClr val="tx2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61A5F6F-5C3E-F0AE-5EE2-A1E0ABA49D93}"/>
              </a:ext>
            </a:extLst>
          </p:cNvPr>
          <p:cNvSpPr/>
          <p:nvPr userDrawn="1"/>
        </p:nvSpPr>
        <p:spPr>
          <a:xfrm>
            <a:off x="9205047" y="509641"/>
            <a:ext cx="2988733" cy="312868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95300" dist="228600" dir="5400000" sx="92000" sy="92000" algn="ctr" rotWithShape="0">
              <a:schemeClr val="tx2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9E891C3-2E96-DBF8-85AC-C89D909A30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441" r="5863"/>
          <a:stretch/>
        </p:blipFill>
        <p:spPr>
          <a:xfrm>
            <a:off x="9334982" y="658044"/>
            <a:ext cx="2857018" cy="283451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30CA428-71D6-7CC1-0E02-49FB2C0BC5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4790" r="18431"/>
          <a:stretch/>
        </p:blipFill>
        <p:spPr>
          <a:xfrm>
            <a:off x="0" y="658044"/>
            <a:ext cx="2858947" cy="283218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BEC7601-2F6C-B1CF-1EA2-23573701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6064"/>
          <a:stretch/>
        </p:blipFill>
        <p:spPr>
          <a:xfrm>
            <a:off x="3420319" y="646315"/>
            <a:ext cx="5382228" cy="284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imágenes personalizadas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s-MX"/>
              <a:t>Título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Subtítulo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1F07247-8C29-BC0D-DCE7-6B475F5C42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177" y="5865038"/>
            <a:ext cx="1443621" cy="67387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8C31A21-B957-7A49-895F-65146E675B7F}"/>
              </a:ext>
            </a:extLst>
          </p:cNvPr>
          <p:cNvSpPr/>
          <p:nvPr userDrawn="1"/>
        </p:nvSpPr>
        <p:spPr>
          <a:xfrm>
            <a:off x="3261447" y="509641"/>
            <a:ext cx="5672666" cy="312868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95300" dist="228600" dir="5400000" sx="92000" sy="92000" algn="ctr" rotWithShape="0">
              <a:schemeClr val="tx2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74E760-83BB-A3CE-7759-8AFDF0E26053}"/>
              </a:ext>
            </a:extLst>
          </p:cNvPr>
          <p:cNvSpPr/>
          <p:nvPr userDrawn="1"/>
        </p:nvSpPr>
        <p:spPr>
          <a:xfrm>
            <a:off x="21234" y="509641"/>
            <a:ext cx="2988733" cy="312868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95300" dist="228600" dir="5400000" sx="92000" sy="92000" algn="ctr" rotWithShape="0">
              <a:schemeClr val="tx2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61A5F6F-5C3E-F0AE-5EE2-A1E0ABA49D93}"/>
              </a:ext>
            </a:extLst>
          </p:cNvPr>
          <p:cNvSpPr/>
          <p:nvPr userDrawn="1"/>
        </p:nvSpPr>
        <p:spPr>
          <a:xfrm>
            <a:off x="9205047" y="509641"/>
            <a:ext cx="2988733" cy="312868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95300" dist="228600" dir="5400000" sx="92000" sy="92000" algn="ctr" rotWithShape="0">
              <a:schemeClr val="tx2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9DAE1E2A-DEF0-6527-76A9-D49B6A8EE4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775" y="587375"/>
            <a:ext cx="2809875" cy="29511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s-ES_tradnl" dirty="0"/>
          </a:p>
        </p:txBody>
      </p:sp>
      <p:sp>
        <p:nvSpPr>
          <p:cNvPr id="14" name="Segnaposto immagine 13">
            <a:extLst>
              <a:ext uri="{FF2B5EF4-FFF2-40B4-BE49-F238E27FC236}">
                <a16:creationId xmlns:a16="http://schemas.microsoft.com/office/drawing/2014/main" id="{93B8C334-1546-6625-05CF-74BC518095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60738" y="587375"/>
            <a:ext cx="5478462" cy="29511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s-ES_tradnl" dirty="0"/>
          </a:p>
        </p:txBody>
      </p:sp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4F5D33C4-9F91-94E4-495D-3828AE711C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85288" y="587375"/>
            <a:ext cx="2801937" cy="29511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88205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(teal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s-MX" dirty="0"/>
              <a:t>Título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Subtítulo</a:t>
            </a:r>
            <a:endParaRPr lang="es-CL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C31A21-B957-7A49-895F-65146E675B7F}"/>
              </a:ext>
            </a:extLst>
          </p:cNvPr>
          <p:cNvSpPr/>
          <p:nvPr userDrawn="1"/>
        </p:nvSpPr>
        <p:spPr>
          <a:xfrm>
            <a:off x="3261447" y="509641"/>
            <a:ext cx="5672666" cy="312868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95300" dist="228600" dir="5400000" sx="92000" sy="92000" algn="ctr" rotWithShape="0">
              <a:schemeClr val="tx2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74E760-83BB-A3CE-7759-8AFDF0E26053}"/>
              </a:ext>
            </a:extLst>
          </p:cNvPr>
          <p:cNvSpPr/>
          <p:nvPr userDrawn="1"/>
        </p:nvSpPr>
        <p:spPr>
          <a:xfrm>
            <a:off x="21234" y="509641"/>
            <a:ext cx="2988733" cy="312868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95300" dist="228600" dir="5400000" sx="92000" sy="92000" algn="ctr" rotWithShape="0">
              <a:schemeClr val="tx2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61A5F6F-5C3E-F0AE-5EE2-A1E0ABA49D93}"/>
              </a:ext>
            </a:extLst>
          </p:cNvPr>
          <p:cNvSpPr/>
          <p:nvPr userDrawn="1"/>
        </p:nvSpPr>
        <p:spPr>
          <a:xfrm>
            <a:off x="9205047" y="509641"/>
            <a:ext cx="2988733" cy="312868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95300" dist="228600" dir="5400000" sx="92000" sy="92000" algn="ctr" rotWithShape="0">
              <a:schemeClr val="tx2">
                <a:lumMod val="75000"/>
                <a:lumOff val="2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9DAE1E2A-DEF0-6527-76A9-D49B6A8EE4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775" y="587375"/>
            <a:ext cx="2809875" cy="29511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s-ES_tradnl" dirty="0"/>
          </a:p>
        </p:txBody>
      </p:sp>
      <p:sp>
        <p:nvSpPr>
          <p:cNvPr id="14" name="Segnaposto immagine 13">
            <a:extLst>
              <a:ext uri="{FF2B5EF4-FFF2-40B4-BE49-F238E27FC236}">
                <a16:creationId xmlns:a16="http://schemas.microsoft.com/office/drawing/2014/main" id="{93B8C334-1546-6625-05CF-74BC518095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60738" y="587375"/>
            <a:ext cx="5478462" cy="29511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s-ES_tradnl" dirty="0"/>
          </a:p>
        </p:txBody>
      </p:sp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4F5D33C4-9F91-94E4-495D-3828AE711C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85288" y="587375"/>
            <a:ext cx="2801937" cy="29511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s-ES_tradn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720426-8668-6B0F-4F7A-E5D979626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4845" y="5841645"/>
            <a:ext cx="1505761" cy="71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 (blanco)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Sección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Contenido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9C6EC1-D06B-C90A-7C69-8FE89ADBF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83" y="604615"/>
            <a:ext cx="1443621" cy="6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16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 elemento (blanco)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9C88D-06EC-08C8-D04D-30FEF3C6CC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9220200" cy="1325563"/>
          </a:xfrm>
        </p:spPr>
        <p:txBody>
          <a:bodyPr/>
          <a:lstStyle/>
          <a:p>
            <a:r>
              <a:rPr lang="es-MX"/>
              <a:t>Título diapositiva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13F49-B7C7-FA9D-9864-5F8F1B83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27-08-26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9DA38D1-A019-7DF1-F065-50912EDFB8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369" y="365125"/>
            <a:ext cx="1443621" cy="6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62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elementos (blanco)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BCD194-2910-E6C3-E86F-8690570E9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9919A0-D7B7-1842-9326-729866E83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3EBB59-888F-EC7A-D7E4-ECE085AAB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27-08-26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1ABB17-4D46-7F3B-A77D-43CAC7B5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C1008D-ADDA-598B-9CC4-AB46F7B6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38EF73F-4AB4-D784-748C-2A8B87AE4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9220200" cy="1325563"/>
          </a:xfrm>
        </p:spPr>
        <p:txBody>
          <a:bodyPr/>
          <a:lstStyle/>
          <a:p>
            <a:r>
              <a:rPr lang="es-MX"/>
              <a:t>Título diapositiva</a:t>
            </a:r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2396FDC-14ED-282C-3702-44AFB28A7F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369" y="365125"/>
            <a:ext cx="1443621" cy="6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2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título (blanco)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9C88D-06EC-08C8-D04D-30FEF3C6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2202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27-08-26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169896-F88C-2197-379E-C62C19AD4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369" y="365125"/>
            <a:ext cx="1443621" cy="6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7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 sin logo GE (blanco)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27-08-26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008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 (teal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DCE0-74F2-9FC3-D0F1-C448F9EEB4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8" y="4025697"/>
            <a:ext cx="10515599" cy="971639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s-MX"/>
              <a:t>Sección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FFB1F-C600-8277-CEC1-8F0ADADB60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8" y="5237955"/>
            <a:ext cx="10515600" cy="512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2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Descripción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3D4077-CA6C-92B7-0343-08CEF1D390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606512"/>
            <a:ext cx="1450706" cy="6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4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n elemento (teal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9C88D-06EC-08C8-D04D-30FEF3C6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220200" cy="1325563"/>
          </a:xfrm>
        </p:spPr>
        <p:txBody>
          <a:bodyPr/>
          <a:lstStyle>
            <a:lvl1pPr>
              <a:defRPr>
                <a:solidFill>
                  <a:srgbClr val="F6F8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13F49-B7C7-FA9D-9864-5F8F1B83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6F8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>
              <a:defRPr>
                <a:solidFill>
                  <a:srgbClr val="F6F8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2pPr>
            <a:lvl3pPr>
              <a:defRPr>
                <a:solidFill>
                  <a:srgbClr val="F6F8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3pPr>
            <a:lvl4pPr>
              <a:defRPr>
                <a:solidFill>
                  <a:srgbClr val="F6F8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4pPr>
            <a:lvl5pPr>
              <a:defRPr>
                <a:solidFill>
                  <a:srgbClr val="F6F8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6F8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fld id="{D8E4841B-2287-4741-8289-C7C3A672CFD1}" type="datetimeFigureOut">
              <a:rPr lang="es-CL" smtClean="0"/>
              <a:pPr/>
              <a:t>27-08-26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6F8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6F8F9"/>
                </a:solidFill>
                <a:effectLst>
                  <a:outerShdw blurRad="50800" dist="38100" dir="8100000" algn="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fld id="{4B968D42-089C-3A4A-947F-D24D407162CC}" type="slidenum">
              <a:rPr lang="es-CL" smtClean="0"/>
              <a:pPr/>
              <a:t>‹Nº›</a:t>
            </a:fld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01948B-3BD2-9574-CB07-B06749AD8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029" y="365125"/>
            <a:ext cx="1450706" cy="6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9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(blanco)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27-08-26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2FD585F-BC85-D4FF-0D6B-636C14F52A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9457" y="1658231"/>
            <a:ext cx="7453085" cy="354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66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(teal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2EBB8-8CAC-988C-D624-91960D79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841B-2287-4741-8289-C7C3A672CFD1}" type="datetimeFigureOut">
              <a:rPr lang="es-CL" smtClean="0"/>
              <a:t>27-08-26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3A9A7-0CCC-DEA5-4BDF-FF28C3D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68D42-089C-3A4A-947F-D24D407162CC}" type="slidenum">
              <a:rPr lang="es-CL" smtClean="0"/>
              <a:t>‹Nº›</a:t>
            </a:fld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B5F3D6-1C97-7623-0775-FCD5596A83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9800" y="1582366"/>
            <a:ext cx="7772400" cy="369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967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A900244-8261-3BA6-80FE-3847D8A29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7DAFB5-8413-1F5E-6A1F-F21B0D51B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CAB41C-9963-7101-8C6E-29132EB4D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tint val="82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fld id="{D8E4841B-2287-4741-8289-C7C3A672CFD1}" type="datetimeFigureOut">
              <a:rPr lang="es-CL" smtClean="0"/>
              <a:pPr/>
              <a:t>27-08-26</a:t>
            </a:fld>
            <a:endParaRPr lang="es-CL" b="1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EC9ECC-F23E-70DC-98B7-199CECF5E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tint val="82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94A83-7CB7-4601-2032-AAB6C5792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tint val="82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fld id="{4B968D42-089C-3A4A-947F-D24D407162CC}" type="slidenum">
              <a:rPr lang="es-CL" smtClean="0"/>
              <a:pPr/>
              <a:t>‹Nº›</a:t>
            </a:fld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271455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92" r:id="rId2"/>
    <p:sldLayoutId id="2147483696" r:id="rId3"/>
    <p:sldLayoutId id="2147483686" r:id="rId4"/>
    <p:sldLayoutId id="2147483682" r:id="rId5"/>
    <p:sldLayoutId id="2147483683" r:id="rId6"/>
    <p:sldLayoutId id="2147483684" r:id="rId7"/>
    <p:sldLayoutId id="2147483690" r:id="rId8"/>
    <p:sldLayoutId id="2147483693" r:id="rId9"/>
    <p:sldLayoutId id="2147483694" r:id="rId10"/>
    <p:sldLayoutId id="2147483691" r:id="rId11"/>
    <p:sldLayoutId id="214748369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Red Hat Display"/>
        <a:buChar char="•"/>
        <a:defRPr sz="2800" kern="1200">
          <a:solidFill>
            <a:schemeClr val="tx2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Red Hat Display"/>
        <a:buChar char="•"/>
        <a:defRPr sz="2400" kern="1200">
          <a:solidFill>
            <a:schemeClr val="tx2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Red Hat Display"/>
        <a:buChar char="•"/>
        <a:defRPr sz="2000" kern="1200">
          <a:solidFill>
            <a:schemeClr val="tx2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Red Hat Display"/>
        <a:buChar char="•"/>
        <a:defRPr sz="1600" kern="1200">
          <a:solidFill>
            <a:schemeClr val="tx2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Red Hat Display"/>
        <a:buChar char="•"/>
        <a:defRPr sz="1200" kern="1200">
          <a:solidFill>
            <a:schemeClr val="tx2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Red Hat Display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Red Hat Display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Red Hat Display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Red Hat Display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2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2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3794760"/>
            <a:ext cx="10515600" cy="1371600"/>
          </a:xfrm>
        </p:spPr>
        <p:txBody>
          <a:bodyPr anchor="b"/>
          <a:lstStyle/>
          <a:p>
            <a:r>
              <a:rPr sz="4000"/>
              <a:t>Presentaciones GE con Claude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Cómo armar una PPT institucional en minutos, sin pelear con la plantilla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965960"/>
            <a:ext cx="502920" cy="502920"/>
          </a:xfrm>
          <a:prstGeom prst="rect">
            <a:avLst/>
          </a:prstGeom>
          <a:solidFill>
            <a:srgbClr val="005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Red Hat Display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1828800"/>
            <a:ext cx="80467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2200" b="0" i="0">
                <a:solidFill>
                  <a:srgbClr val="414E55"/>
                </a:solidFill>
                <a:latin typeface="Red Hat Display"/>
              </a:rPr>
              <a:t>Por qué automatizar las presentaciones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02368" y="182880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2000" b="1" i="0">
                <a:solidFill>
                  <a:srgbClr val="6B7A82"/>
                </a:solidFill>
                <a:latin typeface="Red Hat Display"/>
              </a:rPr>
              <a:t>5’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43200"/>
            <a:ext cx="502920" cy="502920"/>
          </a:xfrm>
          <a:prstGeom prst="rect">
            <a:avLst/>
          </a:prstGeom>
          <a:solidFill>
            <a:srgbClr val="C00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Red Hat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2606040"/>
            <a:ext cx="80467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2200" b="0" i="0">
                <a:solidFill>
                  <a:srgbClr val="414E55"/>
                </a:solidFill>
                <a:latin typeface="Red Hat Display"/>
              </a:rPr>
              <a:t>Cómo funciona el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02368" y="260604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2000" b="1" i="0">
                <a:solidFill>
                  <a:srgbClr val="6B7A82"/>
                </a:solidFill>
                <a:latin typeface="Red Hat Display"/>
              </a:rPr>
              <a:t>10’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40"/>
            <a:ext cx="502920" cy="502920"/>
          </a:xfrm>
          <a:prstGeom prst="rect">
            <a:avLst/>
          </a:prstGeom>
          <a:solidFill>
            <a:srgbClr val="3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Red Hat Display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3383280"/>
            <a:ext cx="80467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2200" b="0" i="0">
                <a:solidFill>
                  <a:srgbClr val="414E55"/>
                </a:solidFill>
                <a:latin typeface="Red Hat Display"/>
              </a:rPr>
              <a:t>Los tipos de lámina disponibles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338328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2000" b="1" i="0">
                <a:solidFill>
                  <a:srgbClr val="6B7A82"/>
                </a:solidFill>
                <a:latin typeface="Red Hat Display"/>
              </a:rPr>
              <a:t>10’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297680"/>
            <a:ext cx="502920" cy="502920"/>
          </a:xfrm>
          <a:prstGeom prst="rect">
            <a:avLst/>
          </a:prstGeom>
          <a:solidFill>
            <a:srgbClr val="6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Red Hat Displa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4160520"/>
            <a:ext cx="80467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2200" b="0" i="0">
                <a:solidFill>
                  <a:srgbClr val="414E55"/>
                </a:solidFill>
                <a:latin typeface="Red Hat Display"/>
              </a:rPr>
              <a:t>Cómo pedirle una presentación a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416052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2000" b="1" i="0">
                <a:solidFill>
                  <a:srgbClr val="6B7A82"/>
                </a:solidFill>
                <a:latin typeface="Red Hat Display"/>
              </a:rPr>
              <a:t>10’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074920"/>
            <a:ext cx="502920" cy="502920"/>
          </a:xfrm>
          <a:prstGeom prst="rect">
            <a:avLst/>
          </a:prstGeom>
          <a:solidFill>
            <a:srgbClr val="005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Red Hat Display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4937760"/>
            <a:ext cx="80467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2200" b="0" i="0">
                <a:solidFill>
                  <a:srgbClr val="414E55"/>
                </a:solidFill>
                <a:latin typeface="Red Hat Display"/>
              </a:rPr>
              <a:t>Reglas de oro y conversación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8" y="493776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2000" b="1" i="0">
                <a:solidFill>
                  <a:srgbClr val="6B7A82"/>
                </a:solidFill>
                <a:latin typeface="Red Hat Display"/>
              </a:rPr>
              <a:t>10’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¿Por qué automatizar las presentaciones?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1097280"/>
            <a:ext cx="9235440" cy="46634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2400"/>
              </a:spcAft>
            </a:pPr>
            <a:r>
              <a:rPr sz="4000" b="1" i="0">
                <a:solidFill>
                  <a:srgbClr val="414E55"/>
                </a:solidFill>
                <a:latin typeface="Red Hat Display"/>
              </a:rPr>
              <a:t>¿Cuánto tiempo se nos va </a:t>
            </a:r>
            <a:r>
              <a:rPr sz="4000" b="1" i="0">
                <a:solidFill>
                  <a:srgbClr val="C0006E"/>
                </a:solidFill>
                <a:latin typeface="Red Hat Display"/>
              </a:rPr>
              <a:t>alineando cajas</a:t>
            </a:r>
            <a:r>
              <a:rPr sz="4000" b="1" i="0">
                <a:solidFill>
                  <a:srgbClr val="414E55"/>
                </a:solidFill>
                <a:latin typeface="Red Hat Display"/>
              </a:rPr>
              <a:t> en vez de pensando el contenido?</a:t>
            </a:r>
          </a:p>
          <a:p>
            <a:pPr algn="ctr"/>
            <a:r>
              <a:rPr sz="2000" b="0" i="0">
                <a:solidFill>
                  <a:srgbClr val="6B7A82"/>
                </a:solidFill>
                <a:latin typeface="Red Hat Display"/>
              </a:rPr>
              <a:t>La plantilla v0.6 resolvió la identidad. Falta que armar la lámina sea igual de fácil.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Cómo funciona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Del contenido al archivo, en cuatro pasos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tu contenido a un .pptx institucional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069973" y="2880360"/>
            <a:ext cx="8058150" cy="0"/>
          </a:xfrm>
          <a:prstGeom prst="line">
            <a:avLst/>
          </a:prstGeom>
          <a:ln w="38100">
            <a:solidFill>
              <a:srgbClr val="E1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658493" y="2468880"/>
            <a:ext cx="822960" cy="822960"/>
          </a:xfrm>
          <a:prstGeom prst="rect">
            <a:avLst/>
          </a:prstGeom>
          <a:solidFill>
            <a:srgbClr val="005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Red Hat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66160"/>
            <a:ext cx="245745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005062"/>
                </a:solidFill>
                <a:latin typeface="Red Hat Display"/>
              </a:rPr>
              <a:t>Contenido</a:t>
            </a:r>
          </a:p>
          <a:p>
            <a:pPr algn="ctr"/>
            <a:r>
              <a:rPr sz="1800" b="0" i="0">
                <a:solidFill>
                  <a:srgbClr val="414E55"/>
                </a:solidFill>
                <a:latin typeface="Red Hat Display"/>
              </a:rPr>
              <a:t>Entregas bases técnicas, un informe, apuntes o solo la idea central.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4543" y="2468880"/>
            <a:ext cx="822960" cy="822960"/>
          </a:xfrm>
          <a:prstGeom prst="rect">
            <a:avLst/>
          </a:prstGeom>
          <a:solidFill>
            <a:srgbClr val="C00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Red Hat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298" y="3566160"/>
            <a:ext cx="245745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C0006E"/>
                </a:solidFill>
                <a:latin typeface="Red Hat Display"/>
              </a:rPr>
              <a:t>Guion</a:t>
            </a:r>
          </a:p>
          <a:p>
            <a:pPr algn="ctr"/>
            <a:r>
              <a:rPr sz="1800" b="0" i="0">
                <a:solidFill>
                  <a:srgbClr val="414E55"/>
                </a:solidFill>
                <a:latin typeface="Red Hat Display"/>
              </a:rPr>
              <a:t>Claude propone la estructura y el tipo de cada lámina. Tú lo revisas.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30593" y="2468880"/>
            <a:ext cx="822960" cy="822960"/>
          </a:xfrm>
          <a:prstGeom prst="rect">
            <a:avLst/>
          </a:prstGeom>
          <a:solidFill>
            <a:srgbClr val="3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Red Hat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3348" y="3566160"/>
            <a:ext cx="245745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30486B"/>
                </a:solidFill>
                <a:latin typeface="Red Hat Display"/>
              </a:rPr>
              <a:t>Generación</a:t>
            </a:r>
          </a:p>
          <a:p>
            <a:pPr algn="ctr"/>
            <a:r>
              <a:rPr sz="1800" b="0" i="0">
                <a:solidFill>
                  <a:srgbClr val="414E55"/>
                </a:solidFill>
                <a:latin typeface="Red Hat Display"/>
              </a:rPr>
              <a:t>La skill arma el .pptx sobre la Plantilla GE v0.6, con sus layouts.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16643" y="2468880"/>
            <a:ext cx="822960" cy="822960"/>
          </a:xfrm>
          <a:prstGeom prst="rect">
            <a:avLst/>
          </a:prstGeom>
          <a:solidFill>
            <a:srgbClr val="6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Red Hat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9398" y="3566160"/>
            <a:ext cx="245745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60306C"/>
                </a:solidFill>
                <a:latin typeface="Red Hat Display"/>
              </a:rPr>
              <a:t>Ajuste</a:t>
            </a:r>
          </a:p>
          <a:p>
            <a:pPr algn="ctr"/>
            <a:r>
              <a:rPr sz="1800" b="0" i="0">
                <a:solidFill>
                  <a:srgbClr val="414E55"/>
                </a:solidFill>
                <a:latin typeface="Red Hat Display"/>
              </a:rPr>
              <a:t>Abres en PowerPoint, afinas detalles y compartes.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000" b="1">
                <a:solidFill>
                  <a:srgbClr val="005062"/>
                </a:solidFill>
              </a:rPr>
              <a:t>Skill presentacion-ge</a:t>
            </a:r>
          </a:p>
          <a:p>
            <a:pPr/>
            <a:r>
              <a:rPr sz="1800"/>
              <a:t>PowerPoint nativo con los layouts oficiales</a:t>
            </a:r>
          </a:p>
          <a:p>
            <a:pPr/>
            <a:r>
              <a:rPr sz="1800"/>
              <a:t>Ideal para clientes, licitaciones y archivos que circulan</a:t>
            </a:r>
          </a:p>
          <a:p>
            <a:pPr/>
            <a:r>
              <a:rPr sz="1800"/>
              <a:t>Se edita como cualquier PPT del 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000" b="1">
                <a:solidFill>
                  <a:srgbClr val="C0006E"/>
                </a:solidFill>
              </a:rPr>
              <a:t>Claude Slides</a:t>
            </a:r>
          </a:p>
          <a:p>
            <a:pPr/>
            <a:r>
              <a:rPr sz="1800"/>
              <a:t>Deck en el navegador con la identidad GE</a:t>
            </a:r>
          </a:p>
          <a:p>
            <a:pPr/>
            <a:r>
              <a:rPr sz="1800"/>
              <a:t>Edición en vivo, comentarios y link para compartir</a:t>
            </a:r>
          </a:p>
          <a:p>
            <a:pPr/>
            <a:r>
              <a:rPr sz="1800"/>
              <a:t>Se descarga como .pptx o PDF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 caminos, una misma identidad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C1008D-ADDA-598B-9CC4-AB46F7B6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Tipos de lámina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Trece piezas para armar cualquier presentación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repertorio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28800"/>
            <a:ext cx="3322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1248" y="1828800"/>
            <a:ext cx="73152" cy="2011680"/>
          </a:xfrm>
          <a:prstGeom prst="rect">
            <a:avLst/>
          </a:prstGeom>
          <a:solidFill>
            <a:srgbClr val="005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33856" y="2103120"/>
            <a:ext cx="420624" cy="420624"/>
          </a:xfrm>
          <a:prstGeom prst="rect">
            <a:avLst/>
          </a:prstGeom>
          <a:solidFill>
            <a:srgbClr val="005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ed Hat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651760"/>
            <a:ext cx="273710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005062"/>
                </a:solidFill>
                <a:latin typeface="Red Hat Display"/>
              </a:rPr>
              <a:t>Portada y secciones</a:t>
            </a:r>
          </a:p>
          <a:p>
            <a:r>
              <a:rPr sz="1700" b="0" i="0">
                <a:solidFill>
                  <a:srgbClr val="414E55"/>
                </a:solidFill>
                <a:latin typeface="Red Hat Display"/>
              </a:rPr>
              <a:t>Layouts oficiales con fotos, fondo blanco o teal.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7888" y="1828800"/>
            <a:ext cx="3322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437888" y="1828800"/>
            <a:ext cx="73152" cy="2011680"/>
          </a:xfrm>
          <a:prstGeom prst="rect">
            <a:avLst/>
          </a:prstGeom>
          <a:solidFill>
            <a:srgbClr val="C00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730496" y="2103120"/>
            <a:ext cx="420624" cy="420624"/>
          </a:xfrm>
          <a:prstGeom prst="rect">
            <a:avLst/>
          </a:prstGeom>
          <a:solidFill>
            <a:srgbClr val="C00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ed Hat Display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0496" y="2651760"/>
            <a:ext cx="273710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C0006E"/>
                </a:solidFill>
                <a:latin typeface="Red Hat Display"/>
              </a:rPr>
              <a:t>Contenido</a:t>
            </a:r>
          </a:p>
          <a:p>
            <a:r>
              <a:rPr sz="1700" b="0" i="0">
                <a:solidFill>
                  <a:srgbClr val="414E55"/>
                </a:solidFill>
                <a:latin typeface="Red Hat Display"/>
              </a:rPr>
              <a:t>Viñetas o dos columnas, con marcador de página.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4528" y="1828800"/>
            <a:ext cx="3322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034528" y="1828800"/>
            <a:ext cx="73152" cy="2011680"/>
          </a:xfrm>
          <a:prstGeom prst="rect">
            <a:avLst/>
          </a:prstGeom>
          <a:solidFill>
            <a:srgbClr val="3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327136" y="2103120"/>
            <a:ext cx="420624" cy="420624"/>
          </a:xfrm>
          <a:prstGeom prst="rect">
            <a:avLst/>
          </a:prstGeom>
          <a:solidFill>
            <a:srgbClr val="3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ed Hat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136" y="2651760"/>
            <a:ext cx="273710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30486B"/>
                </a:solidFill>
                <a:latin typeface="Red Hat Display"/>
              </a:rPr>
              <a:t>Tarjetas</a:t>
            </a:r>
          </a:p>
          <a:p>
            <a:r>
              <a:rPr sz="1700" b="0" i="0">
                <a:solidFill>
                  <a:srgbClr val="414E55"/>
                </a:solidFill>
                <a:latin typeface="Red Hat Display"/>
              </a:rPr>
              <a:t>De 2 a 8 ideas paralelas, con número y color.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114800"/>
            <a:ext cx="3322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41248" y="4114800"/>
            <a:ext cx="73152" cy="2011680"/>
          </a:xfrm>
          <a:prstGeom prst="rect">
            <a:avLst/>
          </a:prstGeom>
          <a:solidFill>
            <a:srgbClr val="6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33856" y="4389120"/>
            <a:ext cx="420624" cy="420624"/>
          </a:xfrm>
          <a:prstGeom prst="rect">
            <a:avLst/>
          </a:prstGeom>
          <a:solidFill>
            <a:srgbClr val="6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ed Hat Display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937759"/>
            <a:ext cx="273710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60306C"/>
                </a:solidFill>
                <a:latin typeface="Red Hat Display"/>
              </a:rPr>
              <a:t>Cifras</a:t>
            </a:r>
          </a:p>
          <a:p>
            <a:r>
              <a:rPr sz="1700" b="0" i="0">
                <a:solidFill>
                  <a:srgbClr val="414E55"/>
                </a:solidFill>
                <a:latin typeface="Red Hat Display"/>
              </a:rPr>
              <a:t>De 2 a 4 números grandes con su etiqueta.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7888" y="4114800"/>
            <a:ext cx="3322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437888" y="4114800"/>
            <a:ext cx="73152" cy="2011680"/>
          </a:xfrm>
          <a:prstGeom prst="rect">
            <a:avLst/>
          </a:prstGeom>
          <a:solidFill>
            <a:srgbClr val="005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730496" y="4389120"/>
            <a:ext cx="420624" cy="420624"/>
          </a:xfrm>
          <a:prstGeom prst="rect">
            <a:avLst/>
          </a:prstGeom>
          <a:solidFill>
            <a:srgbClr val="005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ed Hat Display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0496" y="4937759"/>
            <a:ext cx="273710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005062"/>
                </a:solidFill>
                <a:latin typeface="Red Hat Display"/>
              </a:rPr>
              <a:t>Proceso y agenda</a:t>
            </a:r>
          </a:p>
          <a:p>
            <a:r>
              <a:rPr sz="1700" b="0" i="0">
                <a:solidFill>
                  <a:srgbClr val="414E55"/>
                </a:solidFill>
                <a:latin typeface="Red Hat Display"/>
              </a:rPr>
              <a:t>Etapas numeradas y tiempos de la sesión.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4528" y="4114800"/>
            <a:ext cx="3322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34528" y="4114800"/>
            <a:ext cx="73152" cy="2011680"/>
          </a:xfrm>
          <a:prstGeom prst="rect">
            <a:avLst/>
          </a:prstGeom>
          <a:solidFill>
            <a:srgbClr val="C00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327136" y="4389120"/>
            <a:ext cx="420624" cy="420624"/>
          </a:xfrm>
          <a:prstGeom prst="rect">
            <a:avLst/>
          </a:prstGeom>
          <a:solidFill>
            <a:srgbClr val="C00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Red Hat Display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7136" y="4937759"/>
            <a:ext cx="273710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C0006E"/>
                </a:solidFill>
                <a:latin typeface="Red Hat Display"/>
              </a:rPr>
              <a:t>Tabla, cita e imagen</a:t>
            </a:r>
          </a:p>
          <a:p>
            <a:r>
              <a:rPr sz="1700" b="0" i="0">
                <a:solidFill>
                  <a:srgbClr val="414E55"/>
                </a:solidFill>
                <a:latin typeface="Red Hat Display"/>
              </a:rPr>
              <a:t>Datos, voces textuales y preguntas de impacto.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/>
              <a:t>‹#›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base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2286000"/>
            <a:ext cx="73152" cy="2377440"/>
          </a:xfrm>
          <a:prstGeom prst="rect">
            <a:avLst/>
          </a:prstGeom>
          <a:solidFill>
            <a:srgbClr val="005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15568" y="2194560"/>
            <a:ext cx="2987040" cy="12801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6600" b="1" i="0">
                <a:solidFill>
                  <a:srgbClr val="005062"/>
                </a:solidFill>
                <a:latin typeface="Red Hat Display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520440"/>
            <a:ext cx="298704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414E55"/>
                </a:solidFill>
                <a:latin typeface="Red Hat Display"/>
              </a:rPr>
              <a:t>layouts oficiales</a:t>
            </a:r>
          </a:p>
          <a:p>
            <a:r>
              <a:rPr sz="1400" b="0" i="0">
                <a:solidFill>
                  <a:srgbClr val="6B7A82"/>
                </a:solidFill>
                <a:latin typeface="Red Hat Display"/>
              </a:rPr>
              <a:t>de la Plantilla GE v0.6</a:t>
            </a:r>
          </a:p>
        </p:txBody>
      </p:sp>
      <p:sp>
        <p:nvSpPr>
          <p:cNvPr id="6" name="Rectangle 5"/>
          <p:cNvSpPr/>
          <p:nvPr/>
        </p:nvSpPr>
        <p:spPr>
          <a:xfrm>
            <a:off x="4468368" y="2286000"/>
            <a:ext cx="73152" cy="2377440"/>
          </a:xfrm>
          <a:prstGeom prst="rect">
            <a:avLst/>
          </a:prstGeom>
          <a:solidFill>
            <a:srgbClr val="C00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42688" y="2194560"/>
            <a:ext cx="2987040" cy="12801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6600" b="1" i="0">
                <a:solidFill>
                  <a:srgbClr val="C0006E"/>
                </a:solidFill>
                <a:latin typeface="Red Hat Display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3520440"/>
            <a:ext cx="298704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414E55"/>
                </a:solidFill>
                <a:latin typeface="Red Hat Display"/>
              </a:rPr>
              <a:t>tipos de lámina</a:t>
            </a:r>
          </a:p>
          <a:p>
            <a:r>
              <a:rPr sz="1400" b="0" i="0">
                <a:solidFill>
                  <a:srgbClr val="6B7A82"/>
                </a:solidFill>
                <a:latin typeface="Red Hat Display"/>
              </a:rPr>
              <a:t>listos para usar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5488" y="2286000"/>
            <a:ext cx="73152" cy="2377440"/>
          </a:xfrm>
          <a:prstGeom prst="rect">
            <a:avLst/>
          </a:prstGeom>
          <a:solidFill>
            <a:srgbClr val="3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69808" y="2194560"/>
            <a:ext cx="2987040" cy="12801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6600" b="1" i="0">
                <a:solidFill>
                  <a:srgbClr val="30486B"/>
                </a:solidFill>
                <a:latin typeface="Red Hat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9808" y="3520440"/>
            <a:ext cx="298704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414E55"/>
                </a:solidFill>
                <a:latin typeface="Red Hat Display"/>
              </a:rPr>
              <a:t>colores primarios</a:t>
            </a:r>
          </a:p>
          <a:p>
            <a:r>
              <a:rPr sz="1400" b="0" i="0">
                <a:solidFill>
                  <a:srgbClr val="6B7A82"/>
                </a:solidFill>
                <a:latin typeface="Red Hat Display"/>
              </a:rPr>
              <a:t>del Brandbook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303520"/>
            <a:ext cx="10515600" cy="73152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r>
              <a:rPr sz="1600" b="0" i="1">
                <a:solidFill>
                  <a:srgbClr val="6B7A82"/>
                </a:solidFill>
                <a:latin typeface="Red Hat Display"/>
              </a:rPr>
              <a:t>Tipografía única: Red Hat Display, incrustada en la plantilla.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/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lámina uso?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828800"/>
          <a:ext cx="1051560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05200"/>
                <a:gridCol w="2336800"/>
                <a:gridCol w="467360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Red Hat Display"/>
                        </a:rPr>
                        <a:t>Necesito…</a:t>
                      </a:r>
                    </a:p>
                  </a:txBody>
                  <a:tcPr marL="109728" marR="109728" anchor="ctr">
                    <a:solidFill>
                      <a:srgbClr val="0050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Red Hat Display"/>
                        </a:rPr>
                        <a:t>Tipo</a:t>
                      </a:r>
                    </a:p>
                  </a:txBody>
                  <a:tcPr marL="109728" marR="109728" anchor="ctr">
                    <a:solidFill>
                      <a:srgbClr val="0050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Red Hat Display"/>
                        </a:rPr>
                        <a:t>Ejemplo</a:t>
                      </a:r>
                    </a:p>
                  </a:txBody>
                  <a:tcPr marL="109728" marR="109728" anchor="ctr">
                    <a:solidFill>
                      <a:srgbClr val="00506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14E55"/>
                          </a:solidFill>
                          <a:latin typeface="Red Hat Display"/>
                        </a:rPr>
                        <a:t>Abrir un bloque temático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seccion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“El programa”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14E55"/>
                          </a:solidFill>
                          <a:latin typeface="Red Hat Display"/>
                        </a:rPr>
                        <a:t>Explicar 3 a 6 ideas</a:t>
                      </a:r>
                    </a:p>
                  </a:txBody>
                  <a:tcPr marL="109728" marR="109728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contenido</a:t>
                      </a:r>
                    </a:p>
                  </a:txBody>
                  <a:tcPr marL="109728" marR="109728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Objetivos específicos</a:t>
                      </a:r>
                    </a:p>
                  </a:txBody>
                  <a:tcPr marL="109728" marR="109728" anchor="ctr">
                    <a:solidFill>
                      <a:srgbClr val="EEF1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14E55"/>
                          </a:solidFill>
                          <a:latin typeface="Red Hat Display"/>
                        </a:rPr>
                        <a:t>Comparar dos cosas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dos_columnas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Ruta pedagógica vs. administrativa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14E55"/>
                          </a:solidFill>
                          <a:latin typeface="Red Hat Display"/>
                        </a:rPr>
                        <a:t>Mostrar componentes paralelos</a:t>
                      </a:r>
                    </a:p>
                  </a:txBody>
                  <a:tcPr marL="109728" marR="109728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tarjetas</a:t>
                      </a:r>
                    </a:p>
                  </a:txBody>
                  <a:tcPr marL="109728" marR="109728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Frentes de trabajo digital</a:t>
                      </a:r>
                    </a:p>
                  </a:txBody>
                  <a:tcPr marL="109728" marR="109728" anchor="ctr">
                    <a:solidFill>
                      <a:srgbClr val="EEF1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14E55"/>
                          </a:solidFill>
                          <a:latin typeface="Red Hat Display"/>
                        </a:rPr>
                        <a:t>Destacar resultados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cifras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Satisfacción de participantes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14E55"/>
                          </a:solidFill>
                          <a:latin typeface="Red Hat Display"/>
                        </a:rPr>
                        <a:t>Mostrar etapas</a:t>
                      </a:r>
                    </a:p>
                  </a:txBody>
                  <a:tcPr marL="109728" marR="109728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proceso</a:t>
                      </a:r>
                    </a:p>
                  </a:txBody>
                  <a:tcPr marL="109728" marR="109728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Línea de tiempo del proyecto</a:t>
                      </a:r>
                    </a:p>
                  </a:txBody>
                  <a:tcPr marL="109728" marR="109728" anchor="ctr">
                    <a:solidFill>
                      <a:srgbClr val="EEF1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14E55"/>
                          </a:solidFill>
                          <a:latin typeface="Red Hat Display"/>
                        </a:rPr>
                        <a:t>Provocar la conversación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pregunta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414E55"/>
                          </a:solidFill>
                          <a:latin typeface="Red Hat Display"/>
                        </a:rPr>
                        <a:t>¿Qué entendemos por capacidades?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/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pedirla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920240"/>
            <a:ext cx="91440" cy="3291840"/>
          </a:xfrm>
          <a:prstGeom prst="rect">
            <a:avLst/>
          </a:prstGeom>
          <a:solidFill>
            <a:srgbClr val="C00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52728" y="1828800"/>
            <a:ext cx="9966960" cy="3657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>
              <a:spcAft>
                <a:spcPts val="1400"/>
              </a:spcAft>
            </a:pPr>
            <a:r>
              <a:rPr sz="2600" b="0" i="1">
                <a:solidFill>
                  <a:srgbClr val="414E55"/>
                </a:solidFill>
                <a:latin typeface="Red Hat Display"/>
              </a:rPr>
              <a:t>“Usa la skill presentacion-ge para armar una PPT de 10 láminas para la reunión de inicio con el SLEP [nombre], a partir de las bases técnicas adjuntas. Audiencia: equipo directivo.”</a:t>
            </a:r>
          </a:p>
          <a:p>
            <a:r>
              <a:rPr sz="1600" b="1" i="0">
                <a:solidFill>
                  <a:srgbClr val="005062"/>
                </a:solidFill>
                <a:latin typeface="Red Hat Display"/>
              </a:rPr>
              <a:t>— Ejemplo de instrucción a Claude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/>
              <a:t>‹#›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Reglas de oro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/>
              <a:t>Una idea por lámina</a:t>
            </a:r>
            <a:r>
              <a:rPr sz="2000"/>
              <a:t>: si no cabe, se divide; nada se achica</a:t>
            </a:r>
          </a:p>
          <a:p>
            <a:pPr/>
            <a:r>
              <a:rPr sz="2000" b="1"/>
              <a:t>Máximo 6 viñetas</a:t>
            </a:r>
            <a:r>
              <a:rPr sz="2000"/>
              <a:t>; si son ideas paralelas, mejor tarjetas</a:t>
            </a:r>
          </a:p>
          <a:p>
            <a:pPr/>
            <a:r>
              <a:rPr sz="2000" b="1"/>
              <a:t>Títulos cortos</a:t>
            </a:r>
            <a:r>
              <a:rPr sz="2000"/>
              <a:t> y con la misma gramática en todo el deck</a:t>
            </a:r>
          </a:p>
          <a:p>
            <a:pPr/>
            <a:r>
              <a:rPr sz="2000" b="1"/>
              <a:t>Cifras y citas con fuente</a:t>
            </a:r>
            <a:r>
              <a:rPr sz="2000"/>
              <a:t> en formato APA</a:t>
            </a:r>
          </a:p>
          <a:p>
            <a:pPr/>
            <a:r>
              <a:rPr sz="2000" b="1"/>
              <a:t>No inventar datos</a:t>
            </a:r>
            <a:r>
              <a:rPr sz="2000"/>
              <a:t>: lo que falte queda como [__] para completar</a:t>
            </a:r>
          </a:p>
          <a:p>
            <a:pPr/>
            <a:r>
              <a:rPr sz="2000" b="1"/>
              <a:t>Revisar los avisos de densidad</a:t>
            </a:r>
            <a:r>
              <a:rPr sz="2000"/>
              <a:t> antes de enviar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CAB19-7B08-76F7-271A-9B87695E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/>
              <a:t>‹#›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39496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0" i="0">
                <a:solidFill>
                  <a:srgbClr val="FFFFFF"/>
                </a:solidFill>
                <a:latin typeface="Red Hat Display"/>
              </a:rPr>
              <a:t>¿Dudas o mejoras? Escríbele a Marko Bremer por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rón base">
  <a:themeElements>
    <a:clrScheme name="Grupo Educativo">
      <a:dk1>
        <a:srgbClr val="000000"/>
      </a:dk1>
      <a:lt1>
        <a:srgbClr val="FFFFFF"/>
      </a:lt1>
      <a:dk2>
        <a:srgbClr val="414E55"/>
      </a:dk2>
      <a:lt2>
        <a:srgbClr val="F6F8F9"/>
      </a:lt2>
      <a:accent1>
        <a:srgbClr val="005061"/>
      </a:accent1>
      <a:accent2>
        <a:srgbClr val="BF006D"/>
      </a:accent2>
      <a:accent3>
        <a:srgbClr val="BAC100"/>
      </a:accent3>
      <a:accent4>
        <a:srgbClr val="2F476A"/>
      </a:accent4>
      <a:accent5>
        <a:srgbClr val="AA2F51"/>
      </a:accent5>
      <a:accent6>
        <a:srgbClr val="90B76D"/>
      </a:accent6>
      <a:hlink>
        <a:srgbClr val="005061"/>
      </a:hlink>
      <a:folHlink>
        <a:srgbClr val="BF006D"/>
      </a:folHlink>
    </a:clrScheme>
    <a:fontScheme name="Office">
      <a:majorFont>
        <a:latin typeface="Red Hat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ed Hat Displ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lantilla GE versión 0.6" id="{8D2F65FB-4533-964D-B3FD-CE36E4C2AEEC}" vid="{26B4B60F-466E-714A-90A3-79039ADDE66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54D0B6D118503408027CB7399F7F0D8" ma:contentTypeVersion="18" ma:contentTypeDescription="Crear nuevo documento." ma:contentTypeScope="" ma:versionID="4081b0faff02d3874d0d40ebc9808c20">
  <xsd:schema xmlns:xsd="http://www.w3.org/2001/XMLSchema" xmlns:xs="http://www.w3.org/2001/XMLSchema" xmlns:p="http://schemas.microsoft.com/office/2006/metadata/properties" xmlns:ns2="3ab4d745-8414-420a-aaac-2ccab3600aad" xmlns:ns3="f4fc7cf5-059c-4dba-8d4c-ef5ccf5c432b" targetNamespace="http://schemas.microsoft.com/office/2006/metadata/properties" ma:root="true" ma:fieldsID="ca0ba1f41cabb38f75d4baa9eb8e7486" ns2:_="" ns3:_="">
    <xsd:import namespace="3ab4d745-8414-420a-aaac-2ccab3600aad"/>
    <xsd:import namespace="f4fc7cf5-059c-4dba-8d4c-ef5ccf5c43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4d745-8414-420a-aaac-2ccab3600a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a6e80ca7-40e2-46d8-8e75-79c449f821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fc7cf5-059c-4dba-8d4c-ef5ccf5c432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b38d543-60de-4588-92f3-cdf91ce93743}" ma:internalName="TaxCatchAll" ma:showField="CatchAllData" ma:web="f4fc7cf5-059c-4dba-8d4c-ef5ccf5c43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b4d745-8414-420a-aaac-2ccab3600aad">
      <Terms xmlns="http://schemas.microsoft.com/office/infopath/2007/PartnerControls"/>
    </lcf76f155ced4ddcb4097134ff3c332f>
    <TaxCatchAll xmlns="f4fc7cf5-059c-4dba-8d4c-ef5ccf5c432b" xsi:nil="true"/>
    <SharedWithUsers xmlns="f4fc7cf5-059c-4dba-8d4c-ef5ccf5c432b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B6D3B0-BFA3-4A05-979F-3E6AC13E72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b4d745-8414-420a-aaac-2ccab3600aad"/>
    <ds:schemaRef ds:uri="f4fc7cf5-059c-4dba-8d4c-ef5ccf5c43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09C723-B685-4BFB-8CD7-833F73A1C680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f4fc7cf5-059c-4dba-8d4c-ef5ccf5c432b"/>
    <ds:schemaRef ds:uri="3ab4d745-8414-420a-aaac-2ccab3600aa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4E29A34-D407-4516-99DF-7205ABCDD1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833</Words>
  <Application>Microsoft Macintosh PowerPoint</Application>
  <PresentationFormat>Panorámica</PresentationFormat>
  <Paragraphs>56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Red Hat Display</vt:lpstr>
      <vt:lpstr>Calibri</vt:lpstr>
      <vt:lpstr>Aptos</vt:lpstr>
      <vt:lpstr>Patrón base</vt:lpstr>
      <vt:lpstr>Plantilla oficial PPT</vt:lpstr>
      <vt:lpstr>Cómo utilizar</vt:lpstr>
      <vt:lpstr>Cambios por implementar</vt:lpstr>
      <vt:lpstr>Changelog</vt:lpstr>
      <vt:lpstr>Changelog</vt:lpstr>
      <vt:lpstr>Changelog</vt:lpstr>
      <vt:lpstr>Changelog</vt:lpstr>
      <vt:lpstr>Changelog</vt:lpstr>
      <vt:lpstr>Changelog</vt:lpstr>
      <vt:lpstr>¿Por qué actualizar la plantilla de  PPT de GE (de nuevo)?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Presentaciones GE con Claude</dc:title>
  <dc:creator>Grupo Educativo</dc:creator>
  <cp:lastModifiedBy>Marko Bremer</cp:lastModifiedBy>
  <cp:revision>2</cp:revision>
  <dcterms:created xsi:type="dcterms:W3CDTF">2026-08-27T13:19:46Z</dcterms:created>
  <dcterms:modified xsi:type="dcterms:W3CDTF">2026-08-27T14:58:01Z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0x010100154D0B6D118503408027CB7399F7F0D8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_SharedFileIndex">
    <vt:lpwstr/>
  </property>
  <property fmtid="{D5CDD505-2E9C-101B-9397-08002B2CF9AE}" pid="11" name="_SourceUrl">
    <vt:lpwstr/>
  </property>
</Properties>
</file>